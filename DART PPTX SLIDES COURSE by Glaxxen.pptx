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5" r:id="rId5"/>
    <p:sldId id="266" r:id="rId6"/>
    <p:sldId id="264" r:id="rId7"/>
    <p:sldId id="267" r:id="rId8"/>
    <p:sldId id="268" r:id="rId9"/>
    <p:sldId id="269" r:id="rId10"/>
    <p:sldId id="270" r:id="rId11"/>
    <p:sldId id="271" r:id="rId12"/>
    <p:sldId id="272" r:id="rId13"/>
    <p:sldId id="274" r:id="rId14"/>
    <p:sldId id="273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BDCC-D552-CDFF-E767-58EC795E5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A6F07-5529-7495-C237-FA44B9130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6DE8-964E-5F0E-3AB7-A67021E0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4A4D-CFE5-E988-8A08-8C5E5DFF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92C5-9A06-269D-FF3B-2F648B1F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74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2766-F26B-919E-EC8A-9F7E628B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3E301-EAEF-9F06-7926-B2B3607E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02A6F-D371-19E7-7C24-539E8C20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1B91-CD15-FE64-129D-5023BAD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2CD31-2953-6F76-98FA-EDA1373E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3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939D-FB5B-687E-54FE-A966ACBA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056A-D035-DC84-1214-7E5F787B0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F57F-4388-F6E0-7211-89E986AC9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5A2EB-6491-9811-8D77-71FF3549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AB503-1E71-0FDF-B937-9F306620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E6FC2-E996-0DDC-301B-42B51B59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7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3895-5274-FE2F-25D8-5BA7DD8C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E370-42B3-059B-B44C-422CF0CF3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D923E-0304-BBE5-32B5-ABEC8A3D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E41C1-B144-700D-D9AB-D8F0399DE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4B977-60EC-7930-9842-834BB4BDE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665D3-62C9-D577-FBC9-5C14A104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422BD5-5D1A-35EB-31F8-AB66CFE2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65C44-0AD6-AC83-4928-19EBEC13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2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09AF-C8EC-2875-D1A5-7E6CFD58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6FD71-5016-8D49-41E4-C4B8003B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1FB0F-9B7D-8398-CA5E-4508FDAD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A98B0-D13E-A35B-88AD-95E03220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4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393B7-80A1-AFBA-35B0-1B1C5CF6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C146F-42F5-6D21-3A9A-09043806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34777-5A19-EFA6-E569-0B5362FB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6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5B91-C83E-E2DE-6253-0B5878BE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6EEE-ED8A-B045-04CC-5AD04DC8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8D79F-E4AD-A816-CEAF-EA0169FD1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32574-9982-5E27-AAB3-F91460C7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07C19-E0AE-7493-5345-FC7F246A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3F56F-98A0-FD25-6039-9B872AA2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6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3F17-C276-E7DB-5422-93432600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86F8E-6571-BB32-5711-940F17F2C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9F823-B796-6DC5-B4DA-7658EFAC4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588C4-6E00-13E4-A032-22236F47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0A562-9C0C-4841-0932-FB53EDFE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A031F-1E63-393F-1B06-4E4FFD67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5F23-6B96-6400-86D4-81278C6E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B2738-1E96-F5CA-29FA-0345564BC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2EE4A-8DFF-9BB1-CCD2-E0D87974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4AD94-72B9-543D-6566-77C6B7A5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2A6E2-E759-70B1-247F-33060952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8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3BE86-AE67-0094-986D-8308D6B85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062E8-A724-A03F-C453-516353336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42BEE-5AB6-F8BF-D74E-5CA5F3F8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763A2-B42E-2711-6173-9410429C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38DC5-3F60-5696-23AD-14C6096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4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44464-6064-C8DA-DE28-9C59A6FA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ED523-3C82-13A7-A23C-665F7BC92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ACC40-860D-6B1F-82C8-6C9FAA171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7F0E4-868E-4C51-94D7-78857FA420B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FC4F7-76F2-4BD8-26C5-F8AE79FF1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20981-568F-5C97-A9DE-82FB04362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FA37C-6022-4702-9C36-99BE2006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6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Gbp5otaqPA&amp;si=eHAlpHSkElF25zq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46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5C2E-3FC3-9A74-4655-F71EB86F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E61F809-4E91-E336-4B16-6AFD9D63CC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0B5A4-897D-70A0-F270-4DDF1A35E877}"/>
              </a:ext>
            </a:extLst>
          </p:cNvPr>
          <p:cNvSpPr txBox="1"/>
          <p:nvPr/>
        </p:nvSpPr>
        <p:spPr>
          <a:xfrm>
            <a:off x="0" y="175086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 programming for Flutter Development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6287E-6C64-C84A-B830-21AB2AAFF7CD}"/>
              </a:ext>
            </a:extLst>
          </p:cNvPr>
          <p:cNvSpPr/>
          <p:nvPr/>
        </p:nvSpPr>
        <p:spPr>
          <a:xfrm>
            <a:off x="6242538" y="5856274"/>
            <a:ext cx="5949462" cy="1001726"/>
          </a:xfrm>
          <a:custGeom>
            <a:avLst/>
            <a:gdLst>
              <a:gd name="csX0" fmla="*/ 0 w 5949462"/>
              <a:gd name="csY0" fmla="*/ 0 h 1001726"/>
              <a:gd name="csX1" fmla="*/ 654441 w 5949462"/>
              <a:gd name="csY1" fmla="*/ 0 h 1001726"/>
              <a:gd name="csX2" fmla="*/ 1249387 w 5949462"/>
              <a:gd name="csY2" fmla="*/ 0 h 1001726"/>
              <a:gd name="csX3" fmla="*/ 1963322 w 5949462"/>
              <a:gd name="csY3" fmla="*/ 0 h 1001726"/>
              <a:gd name="csX4" fmla="*/ 2617763 w 5949462"/>
              <a:gd name="csY4" fmla="*/ 0 h 1001726"/>
              <a:gd name="csX5" fmla="*/ 3331699 w 5949462"/>
              <a:gd name="csY5" fmla="*/ 0 h 1001726"/>
              <a:gd name="csX6" fmla="*/ 4045634 w 5949462"/>
              <a:gd name="csY6" fmla="*/ 0 h 1001726"/>
              <a:gd name="csX7" fmla="*/ 4700075 w 5949462"/>
              <a:gd name="csY7" fmla="*/ 0 h 1001726"/>
              <a:gd name="csX8" fmla="*/ 5116537 w 5949462"/>
              <a:gd name="csY8" fmla="*/ 0 h 1001726"/>
              <a:gd name="csX9" fmla="*/ 5949462 w 5949462"/>
              <a:gd name="csY9" fmla="*/ 0 h 1001726"/>
              <a:gd name="csX10" fmla="*/ 5949462 w 5949462"/>
              <a:gd name="csY10" fmla="*/ 470811 h 1001726"/>
              <a:gd name="csX11" fmla="*/ 5949462 w 5949462"/>
              <a:gd name="csY11" fmla="*/ 1001726 h 1001726"/>
              <a:gd name="csX12" fmla="*/ 5235527 w 5949462"/>
              <a:gd name="csY12" fmla="*/ 1001726 h 1001726"/>
              <a:gd name="csX13" fmla="*/ 4521591 w 5949462"/>
              <a:gd name="csY13" fmla="*/ 1001726 h 1001726"/>
              <a:gd name="csX14" fmla="*/ 4105129 w 5949462"/>
              <a:gd name="csY14" fmla="*/ 1001726 h 1001726"/>
              <a:gd name="csX15" fmla="*/ 3391193 w 5949462"/>
              <a:gd name="csY15" fmla="*/ 1001726 h 1001726"/>
              <a:gd name="csX16" fmla="*/ 2855742 w 5949462"/>
              <a:gd name="csY16" fmla="*/ 1001726 h 1001726"/>
              <a:gd name="csX17" fmla="*/ 2379785 w 5949462"/>
              <a:gd name="csY17" fmla="*/ 1001726 h 1001726"/>
              <a:gd name="csX18" fmla="*/ 1963322 w 5949462"/>
              <a:gd name="csY18" fmla="*/ 1001726 h 1001726"/>
              <a:gd name="csX19" fmla="*/ 1308882 w 5949462"/>
              <a:gd name="csY19" fmla="*/ 1001726 h 1001726"/>
              <a:gd name="csX20" fmla="*/ 654441 w 5949462"/>
              <a:gd name="csY20" fmla="*/ 1001726 h 1001726"/>
              <a:gd name="csX21" fmla="*/ 0 w 5949462"/>
              <a:gd name="csY21" fmla="*/ 1001726 h 1001726"/>
              <a:gd name="csX22" fmla="*/ 0 w 5949462"/>
              <a:gd name="csY22" fmla="*/ 530915 h 1001726"/>
              <a:gd name="csX23" fmla="*/ 0 w 5949462"/>
              <a:gd name="csY23" fmla="*/ 0 h 1001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949462" h="1001726" fill="none" extrusionOk="0">
                <a:moveTo>
                  <a:pt x="0" y="0"/>
                </a:moveTo>
                <a:cubicBezTo>
                  <a:pt x="236560" y="-19801"/>
                  <a:pt x="495280" y="42174"/>
                  <a:pt x="654441" y="0"/>
                </a:cubicBezTo>
                <a:cubicBezTo>
                  <a:pt x="813602" y="-42174"/>
                  <a:pt x="1079940" y="68977"/>
                  <a:pt x="1249387" y="0"/>
                </a:cubicBezTo>
                <a:cubicBezTo>
                  <a:pt x="1418834" y="-68977"/>
                  <a:pt x="1709662" y="76011"/>
                  <a:pt x="1963322" y="0"/>
                </a:cubicBezTo>
                <a:cubicBezTo>
                  <a:pt x="2216982" y="-76011"/>
                  <a:pt x="2470953" y="24519"/>
                  <a:pt x="2617763" y="0"/>
                </a:cubicBezTo>
                <a:cubicBezTo>
                  <a:pt x="2764573" y="-24519"/>
                  <a:pt x="3139694" y="626"/>
                  <a:pt x="3331699" y="0"/>
                </a:cubicBezTo>
                <a:cubicBezTo>
                  <a:pt x="3523704" y="-626"/>
                  <a:pt x="3821756" y="66878"/>
                  <a:pt x="4045634" y="0"/>
                </a:cubicBezTo>
                <a:cubicBezTo>
                  <a:pt x="4269512" y="-66878"/>
                  <a:pt x="4430342" y="30948"/>
                  <a:pt x="4700075" y="0"/>
                </a:cubicBezTo>
                <a:cubicBezTo>
                  <a:pt x="4969808" y="-30948"/>
                  <a:pt x="4954979" y="15335"/>
                  <a:pt x="5116537" y="0"/>
                </a:cubicBezTo>
                <a:cubicBezTo>
                  <a:pt x="5278095" y="-15335"/>
                  <a:pt x="5608554" y="94091"/>
                  <a:pt x="5949462" y="0"/>
                </a:cubicBezTo>
                <a:cubicBezTo>
                  <a:pt x="6001365" y="130581"/>
                  <a:pt x="5906158" y="293441"/>
                  <a:pt x="5949462" y="470811"/>
                </a:cubicBezTo>
                <a:cubicBezTo>
                  <a:pt x="5992766" y="648181"/>
                  <a:pt x="5936263" y="836259"/>
                  <a:pt x="5949462" y="1001726"/>
                </a:cubicBezTo>
                <a:cubicBezTo>
                  <a:pt x="5659954" y="1061522"/>
                  <a:pt x="5584624" y="965857"/>
                  <a:pt x="5235527" y="1001726"/>
                </a:cubicBezTo>
                <a:cubicBezTo>
                  <a:pt x="4886430" y="1037595"/>
                  <a:pt x="4797638" y="972613"/>
                  <a:pt x="4521591" y="1001726"/>
                </a:cubicBezTo>
                <a:cubicBezTo>
                  <a:pt x="4245544" y="1030839"/>
                  <a:pt x="4218935" y="995321"/>
                  <a:pt x="4105129" y="1001726"/>
                </a:cubicBezTo>
                <a:cubicBezTo>
                  <a:pt x="3991323" y="1008131"/>
                  <a:pt x="3633258" y="968918"/>
                  <a:pt x="3391193" y="1001726"/>
                </a:cubicBezTo>
                <a:cubicBezTo>
                  <a:pt x="3149128" y="1034534"/>
                  <a:pt x="3104155" y="963584"/>
                  <a:pt x="2855742" y="1001726"/>
                </a:cubicBezTo>
                <a:cubicBezTo>
                  <a:pt x="2607329" y="1039868"/>
                  <a:pt x="2581024" y="986021"/>
                  <a:pt x="2379785" y="1001726"/>
                </a:cubicBezTo>
                <a:cubicBezTo>
                  <a:pt x="2178546" y="1017431"/>
                  <a:pt x="2053639" y="980405"/>
                  <a:pt x="1963322" y="1001726"/>
                </a:cubicBezTo>
                <a:cubicBezTo>
                  <a:pt x="1873005" y="1023047"/>
                  <a:pt x="1582045" y="999738"/>
                  <a:pt x="1308882" y="1001726"/>
                </a:cubicBezTo>
                <a:cubicBezTo>
                  <a:pt x="1035719" y="1003714"/>
                  <a:pt x="914801" y="955900"/>
                  <a:pt x="654441" y="1001726"/>
                </a:cubicBezTo>
                <a:cubicBezTo>
                  <a:pt x="394081" y="1047552"/>
                  <a:pt x="299210" y="946493"/>
                  <a:pt x="0" y="1001726"/>
                </a:cubicBezTo>
                <a:cubicBezTo>
                  <a:pt x="-42697" y="771197"/>
                  <a:pt x="23039" y="725096"/>
                  <a:pt x="0" y="530915"/>
                </a:cubicBezTo>
                <a:cubicBezTo>
                  <a:pt x="-23039" y="336734"/>
                  <a:pt x="38421" y="150698"/>
                  <a:pt x="0" y="0"/>
                </a:cubicBezTo>
                <a:close/>
              </a:path>
              <a:path w="5949462" h="1001726" stroke="0" extrusionOk="0">
                <a:moveTo>
                  <a:pt x="0" y="0"/>
                </a:moveTo>
                <a:cubicBezTo>
                  <a:pt x="167381" y="-16544"/>
                  <a:pt x="343727" y="33064"/>
                  <a:pt x="594946" y="0"/>
                </a:cubicBezTo>
                <a:cubicBezTo>
                  <a:pt x="846165" y="-33064"/>
                  <a:pt x="1078286" y="62522"/>
                  <a:pt x="1249387" y="0"/>
                </a:cubicBezTo>
                <a:cubicBezTo>
                  <a:pt x="1420488" y="-62522"/>
                  <a:pt x="1530319" y="36348"/>
                  <a:pt x="1665849" y="0"/>
                </a:cubicBezTo>
                <a:cubicBezTo>
                  <a:pt x="1801379" y="-36348"/>
                  <a:pt x="2185577" y="12119"/>
                  <a:pt x="2379785" y="0"/>
                </a:cubicBezTo>
                <a:cubicBezTo>
                  <a:pt x="2573993" y="-12119"/>
                  <a:pt x="2728575" y="71386"/>
                  <a:pt x="3034226" y="0"/>
                </a:cubicBezTo>
                <a:cubicBezTo>
                  <a:pt x="3339877" y="-71386"/>
                  <a:pt x="3429013" y="1153"/>
                  <a:pt x="3688666" y="0"/>
                </a:cubicBezTo>
                <a:cubicBezTo>
                  <a:pt x="3948319" y="-1153"/>
                  <a:pt x="3948999" y="38739"/>
                  <a:pt x="4105129" y="0"/>
                </a:cubicBezTo>
                <a:cubicBezTo>
                  <a:pt x="4261259" y="-38739"/>
                  <a:pt x="4480111" y="46894"/>
                  <a:pt x="4700075" y="0"/>
                </a:cubicBezTo>
                <a:cubicBezTo>
                  <a:pt x="4920039" y="-46894"/>
                  <a:pt x="5229904" y="78716"/>
                  <a:pt x="5414010" y="0"/>
                </a:cubicBezTo>
                <a:cubicBezTo>
                  <a:pt x="5598117" y="-78716"/>
                  <a:pt x="5731150" y="32054"/>
                  <a:pt x="5949462" y="0"/>
                </a:cubicBezTo>
                <a:cubicBezTo>
                  <a:pt x="5993583" y="164036"/>
                  <a:pt x="5915721" y="309979"/>
                  <a:pt x="5949462" y="480828"/>
                </a:cubicBezTo>
                <a:cubicBezTo>
                  <a:pt x="5983203" y="651677"/>
                  <a:pt x="5940858" y="894061"/>
                  <a:pt x="5949462" y="1001726"/>
                </a:cubicBezTo>
                <a:cubicBezTo>
                  <a:pt x="5603460" y="1003593"/>
                  <a:pt x="5402091" y="938414"/>
                  <a:pt x="5235527" y="1001726"/>
                </a:cubicBezTo>
                <a:cubicBezTo>
                  <a:pt x="5068964" y="1065038"/>
                  <a:pt x="4949287" y="955925"/>
                  <a:pt x="4819064" y="1001726"/>
                </a:cubicBezTo>
                <a:cubicBezTo>
                  <a:pt x="4688841" y="1047527"/>
                  <a:pt x="4446615" y="962088"/>
                  <a:pt x="4164623" y="1001726"/>
                </a:cubicBezTo>
                <a:cubicBezTo>
                  <a:pt x="3882631" y="1041364"/>
                  <a:pt x="3710416" y="933394"/>
                  <a:pt x="3569677" y="1001726"/>
                </a:cubicBezTo>
                <a:cubicBezTo>
                  <a:pt x="3428938" y="1070058"/>
                  <a:pt x="3200945" y="985430"/>
                  <a:pt x="3093720" y="1001726"/>
                </a:cubicBezTo>
                <a:cubicBezTo>
                  <a:pt x="2986495" y="1018022"/>
                  <a:pt x="2846039" y="953147"/>
                  <a:pt x="2677258" y="1001726"/>
                </a:cubicBezTo>
                <a:cubicBezTo>
                  <a:pt x="2508477" y="1050305"/>
                  <a:pt x="2367826" y="957623"/>
                  <a:pt x="2141806" y="1001726"/>
                </a:cubicBezTo>
                <a:cubicBezTo>
                  <a:pt x="1915786" y="1045829"/>
                  <a:pt x="1816883" y="992567"/>
                  <a:pt x="1665849" y="1001726"/>
                </a:cubicBezTo>
                <a:cubicBezTo>
                  <a:pt x="1514815" y="1010885"/>
                  <a:pt x="1312795" y="975591"/>
                  <a:pt x="1011409" y="1001726"/>
                </a:cubicBezTo>
                <a:cubicBezTo>
                  <a:pt x="710023" y="1027861"/>
                  <a:pt x="769591" y="986952"/>
                  <a:pt x="594946" y="1001726"/>
                </a:cubicBezTo>
                <a:cubicBezTo>
                  <a:pt x="420301" y="1016500"/>
                  <a:pt x="181440" y="992958"/>
                  <a:pt x="0" y="1001726"/>
                </a:cubicBezTo>
                <a:cubicBezTo>
                  <a:pt x="-25000" y="793207"/>
                  <a:pt x="1838" y="647210"/>
                  <a:pt x="0" y="520898"/>
                </a:cubicBezTo>
                <a:cubicBezTo>
                  <a:pt x="-1838" y="394586"/>
                  <a:pt x="24621" y="17503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>
            <a:solidFill>
              <a:srgbClr val="0A2F20"/>
            </a:solidFill>
            <a:extLst>
              <a:ext uri="{C807C97D-BFC1-408E-A445-0C87EB9F89A2}">
                <ask:lineSketchStyleProps xmlns:ask="http://schemas.microsoft.com/office/drawing/2018/sketchyshapes" sd="48522816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ACF1C3-2547-E9CB-6A18-5276D349AE21}"/>
              </a:ext>
            </a:extLst>
          </p:cNvPr>
          <p:cNvSpPr txBox="1"/>
          <p:nvPr/>
        </p:nvSpPr>
        <p:spPr>
          <a:xfrm>
            <a:off x="6565590" y="6114980"/>
            <a:ext cx="5342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Complete </a:t>
            </a:r>
            <a:r>
              <a:rPr lang="en-US" sz="2400" b="1" dirty="0">
                <a:solidFill>
                  <a:srgbClr val="05DFC4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BEGINNER</a:t>
            </a:r>
            <a:r>
              <a:rPr lang="en-US" sz="2400" b="1" dirty="0">
                <a:solidFill>
                  <a:srgbClr val="FFFF0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i="1" dirty="0">
                <a:solidFill>
                  <a:schemeClr val="bg1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course (2027)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95FEE-F77C-8286-E513-EBB9E9AF32C4}"/>
              </a:ext>
            </a:extLst>
          </p:cNvPr>
          <p:cNvSpPr txBox="1"/>
          <p:nvPr/>
        </p:nvSpPr>
        <p:spPr>
          <a:xfrm rot="232110">
            <a:off x="5132793" y="2018756"/>
            <a:ext cx="5631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058CD5"/>
                </a:solidFill>
                <a:latin typeface="Futura Md BT" panose="020B0602020204020303" pitchFamily="34" charset="0"/>
                <a:ea typeface="Futura" panose="02020800000000000000" pitchFamily="18" charset="0"/>
                <a:cs typeface="Futura" panose="02020800000000000000" pitchFamily="18" charset="0"/>
              </a:rPr>
              <a:t>Learn the fundamentals of the Dart programming language before building beautiful, cross-platform mobile applications with Flutter.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77D53-AE2F-0C35-5969-6D89B8DB5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99" y="1371619"/>
            <a:ext cx="4114761" cy="4114761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71301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7848-BC19-D867-64C8-D7DCB510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C43D4-621C-223F-3E11-AB92999C33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23C4A-6780-9E02-EB91-46EBBDFBC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937" y="241508"/>
            <a:ext cx="336101" cy="336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4BC87D-EF84-30C0-A472-494417836442}"/>
              </a:ext>
            </a:extLst>
          </p:cNvPr>
          <p:cNvGraphicFramePr>
            <a:graphicFrameLocks noGrp="1"/>
          </p:cNvGraphicFramePr>
          <p:nvPr/>
        </p:nvGraphicFramePr>
        <p:xfrm>
          <a:off x="432486" y="193027"/>
          <a:ext cx="11405287" cy="64719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3356">
                  <a:extLst>
                    <a:ext uri="{9D8B030D-6E8A-4147-A177-3AD203B41FA5}">
                      <a16:colId xmlns:a16="http://schemas.microsoft.com/office/drawing/2014/main" val="303124414"/>
                    </a:ext>
                  </a:extLst>
                </a:gridCol>
                <a:gridCol w="3182780">
                  <a:extLst>
                    <a:ext uri="{9D8B030D-6E8A-4147-A177-3AD203B41FA5}">
                      <a16:colId xmlns:a16="http://schemas.microsoft.com/office/drawing/2014/main" val="3245251117"/>
                    </a:ext>
                  </a:extLst>
                </a:gridCol>
                <a:gridCol w="6639151">
                  <a:extLst>
                    <a:ext uri="{9D8B030D-6E8A-4147-A177-3AD203B41FA5}">
                      <a16:colId xmlns:a16="http://schemas.microsoft.com/office/drawing/2014/main" val="404187344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Module</a:t>
                      </a:r>
                      <a:endParaRPr lang="en-US" sz="2400" dirty="0">
                        <a:solidFill>
                          <a:srgbClr val="05DFC4"/>
                        </a:solidFill>
                        <a:latin typeface="Glacial Indifference" pitchFamily="50" charset="0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Topic</a:t>
                      </a:r>
                      <a:endParaRPr lang="en-US" sz="2400" dirty="0">
                        <a:solidFill>
                          <a:srgbClr val="05DFC4"/>
                        </a:solidFill>
                        <a:latin typeface="Glacial Indifference" pitchFamily="50" charset="0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Concepts Covered</a:t>
                      </a:r>
                      <a:endParaRPr lang="en-US" sz="2400" dirty="0">
                        <a:solidFill>
                          <a:srgbClr val="05DFC4"/>
                        </a:solidFill>
                        <a:latin typeface="Glacial Indifference" pitchFamily="50" charset="0"/>
                      </a:endParaRP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5094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1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Installing Dart &amp; Setup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Installing Dart SDK, VS Code setup, Running your first Dart program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6398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2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Variables, Data Types &amp; Strings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Variables, Data Types (int, double, String, bool), String manipulation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877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3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Constants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const and final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1425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4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Type Conversion &amp; User Input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User Input, Type Conversion, String to Integer/Double, Parsing values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64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5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Operators &amp; Logic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Arithmetic, Assignment, Comparison, Logical Operators, if, else, switch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6210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6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Collections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Lists, Sets, Maps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4002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7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Loops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for, while, do-while, for-in, Loop control (break, continue)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98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8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Functions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Function declaration, Parameters, Return values, Arrow functions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055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9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Null Safety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Nullable &amp; Non-nullable types, Null-aware operators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8645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10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Classes &amp; OOP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Classes, Objects, Constructors, Classes Without Initialization, Basic OOP concepts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5215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11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Exception Handling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try, catch, finally, throw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3562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12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Mini Project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 err="1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FizzBuzz</a:t>
                      </a: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 Challenge (Applying loops, conditions, and logic)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9434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13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Conclusion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>
                          <a:solidFill>
                            <a:srgbClr val="05DFC4"/>
                          </a:solidFill>
                          <a:latin typeface="Glacial Indifference" pitchFamily="50" charset="0"/>
                        </a:rPr>
                        <a:t>Course recap and transition to Flutter</a:t>
                      </a:r>
                    </a:p>
                  </a:txBody>
                  <a:tcPr marL="40667" marR="40667" marT="20333" marB="20333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88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96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F7C5-6096-BDD9-3A9D-9FB8157A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A46C4C-03BD-8BC4-4B2F-73C040511E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3E2B4-DC3D-600A-4936-5C4673C828F8}"/>
              </a:ext>
            </a:extLst>
          </p:cNvPr>
          <p:cNvSpPr txBox="1"/>
          <p:nvPr/>
        </p:nvSpPr>
        <p:spPr>
          <a:xfrm>
            <a:off x="1716178" y="175086"/>
            <a:ext cx="119083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7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C9795-9DD5-BB2E-A0C7-642A4A87E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A09CE2-A293-11A7-D123-938DBCE88100}"/>
              </a:ext>
            </a:extLst>
          </p:cNvPr>
          <p:cNvSpPr txBox="1"/>
          <p:nvPr/>
        </p:nvSpPr>
        <p:spPr>
          <a:xfrm>
            <a:off x="2092960" y="2631440"/>
            <a:ext cx="5019040" cy="2611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71CA6F-3ACA-700B-B3DB-58213451A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30" y="2153925"/>
            <a:ext cx="10937610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" pitchFamily="50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A variable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is a named container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used to store data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value stored can change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 during program execution.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  <a:tabLst/>
            </a:pPr>
            <a:r>
              <a:rPr kumimoji="0" lang="en-US" altLang="en-US" sz="32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" pitchFamily="50" charset="0"/>
              </a:rPr>
              <a:t>Every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variable has a name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and a value</a:t>
            </a: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5DFC4"/>
                </a:solidFill>
                <a:effectLst/>
                <a:latin typeface="Glacial Indifference" pitchFamily="50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40C59-F96B-126F-C150-D7AF9AFA2698}"/>
              </a:ext>
            </a:extLst>
          </p:cNvPr>
          <p:cNvSpPr txBox="1"/>
          <p:nvPr/>
        </p:nvSpPr>
        <p:spPr>
          <a:xfrm>
            <a:off x="307649" y="6365863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356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2B9A-2080-0695-6C67-DEA1CDC5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655433-EF30-ED92-A102-F2B59D2760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2BF44-A086-D76B-2507-7E028AF44CE9}"/>
              </a:ext>
            </a:extLst>
          </p:cNvPr>
          <p:cNvSpPr txBox="1"/>
          <p:nvPr/>
        </p:nvSpPr>
        <p:spPr>
          <a:xfrm>
            <a:off x="1716178" y="175086"/>
            <a:ext cx="11908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  <a:r>
              <a:rPr lang="en-US" sz="6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DATATYPES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C6B11-DBA8-F901-76A2-52C67E33E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01" y="73486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B619E0-0521-7E11-DE9E-B16BB35D59F8}"/>
              </a:ext>
            </a:extLst>
          </p:cNvPr>
          <p:cNvSpPr txBox="1"/>
          <p:nvPr/>
        </p:nvSpPr>
        <p:spPr>
          <a:xfrm>
            <a:off x="2092960" y="2631440"/>
            <a:ext cx="5019040" cy="2611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5DA571-98DA-D665-7B4E-5FE90D772E9F}"/>
              </a:ext>
            </a:extLst>
          </p:cNvPr>
          <p:cNvGraphicFramePr>
            <a:graphicFrameLocks noGrp="1"/>
          </p:cNvGraphicFramePr>
          <p:nvPr/>
        </p:nvGraphicFramePr>
        <p:xfrm>
          <a:off x="370839" y="1459582"/>
          <a:ext cx="11430000" cy="5114340"/>
        </p:xfrm>
        <a:graphic>
          <a:graphicData uri="http://schemas.openxmlformats.org/drawingml/2006/table">
            <a:tbl>
              <a:tblPr/>
              <a:tblGrid>
                <a:gridCol w="2261659">
                  <a:extLst>
                    <a:ext uri="{9D8B030D-6E8A-4147-A177-3AD203B41FA5}">
                      <a16:colId xmlns:a16="http://schemas.microsoft.com/office/drawing/2014/main" val="1003873144"/>
                    </a:ext>
                  </a:extLst>
                </a:gridCol>
                <a:gridCol w="5358341">
                  <a:extLst>
                    <a:ext uri="{9D8B030D-6E8A-4147-A177-3AD203B41FA5}">
                      <a16:colId xmlns:a16="http://schemas.microsoft.com/office/drawing/2014/main" val="64861219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21416088"/>
                    </a:ext>
                  </a:extLst>
                </a:gridCol>
              </a:tblGrid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800" b="1" u="sng" kern="1200" dirty="0">
                          <a:solidFill>
                            <a:srgbClr val="05DFC4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800" b="1" u="sng" kern="1200" dirty="0">
                          <a:solidFill>
                            <a:srgbClr val="05DFC4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800" b="1" u="sng" kern="1200" dirty="0">
                          <a:solidFill>
                            <a:srgbClr val="05DFC4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180513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whole numbers (integers).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int age = 25;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708826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double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decimal (floating-point) numbers.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double price = 99.99;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227895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text or a sequence of characters.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String name = "John";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630033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bool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a Boolean value: either true or false.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bool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isLoggedIn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 = true;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99152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an ordered collection of multiple values.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List&lt;String&gt; fruits = ["Apple", "Orange"];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31892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6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a collection of unique values (no duplicates).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Set&lt;int&gt; numbers = {1, 2, 3};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54774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Map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6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Stores data as key-value pairs.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6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Map&lt;String, int&gt; scores = {"John": 90};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721966"/>
                  </a:ext>
                </a:extLst>
              </a:tr>
              <a:tr h="5682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dynamic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GB" sz="16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Can store values of any data type.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dynamic value = "Hello";</a:t>
                      </a:r>
                    </a:p>
                  </a:txBody>
                  <a:tcPr marL="80580" marR="80580" marT="40290" marB="40290"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96116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B6D09C-0623-E0EB-1F0B-55EF70454A48}"/>
              </a:ext>
            </a:extLst>
          </p:cNvPr>
          <p:cNvSpPr txBox="1"/>
          <p:nvPr/>
        </p:nvSpPr>
        <p:spPr>
          <a:xfrm>
            <a:off x="2486228" y="983776"/>
            <a:ext cx="681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A data type specifies the kind of value a variable can store.</a:t>
            </a:r>
          </a:p>
        </p:txBody>
      </p:sp>
    </p:spTree>
    <p:extLst>
      <p:ext uri="{BB962C8B-B14F-4D97-AF65-F5344CB8AC3E}">
        <p14:creationId xmlns:p14="http://schemas.microsoft.com/office/powerpoint/2010/main" val="165138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0A22-55FA-E87F-0BF5-2911B7B9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47DA097-3D7B-1EB6-50E0-1084D3258F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B2C1E-1B27-0187-13FA-9FDB40845155}"/>
              </a:ext>
            </a:extLst>
          </p:cNvPr>
          <p:cNvSpPr txBox="1"/>
          <p:nvPr/>
        </p:nvSpPr>
        <p:spPr>
          <a:xfrm>
            <a:off x="1716178" y="175086"/>
            <a:ext cx="119083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  <a:endParaRPr lang="en-US" sz="3200" b="1" dirty="0">
              <a:solidFill>
                <a:srgbClr val="058CD5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STRING MANIPULATION  </a:t>
            </a:r>
            <a:r>
              <a:rPr lang="en-US" sz="3200" i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&amp;  INTERPOLATION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D4AF7-54C6-A886-DBEF-94E7BCEB7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6EF549-381A-24D2-EFC9-173F99F08975}"/>
              </a:ext>
            </a:extLst>
          </p:cNvPr>
          <p:cNvSpPr txBox="1"/>
          <p:nvPr/>
        </p:nvSpPr>
        <p:spPr>
          <a:xfrm>
            <a:off x="832689" y="3127782"/>
            <a:ext cx="10526621" cy="13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chemeClr val="bg1"/>
                </a:solidFill>
                <a:latin typeface="Glacial Indifference" pitchFamily="50" charset="0"/>
              </a:rPr>
              <a:t>String Manipulation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is the process of performing operations on strings, such as combining, changing, searching, or extracting text.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BC40C59-F96B-126F-C150-D7AF9AFA2698}"/>
              </a:ext>
            </a:extLst>
          </p:cNvPr>
          <p:cNvSpPr txBox="1"/>
          <p:nvPr/>
        </p:nvSpPr>
        <p:spPr>
          <a:xfrm>
            <a:off x="832689" y="632897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52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F558-BF13-4E72-AA07-D7FBB6D9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13E032-025E-D56F-B250-9848CB9BA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3AB4D-D2BE-3A67-5734-5039A89F1176}"/>
              </a:ext>
            </a:extLst>
          </p:cNvPr>
          <p:cNvSpPr txBox="1"/>
          <p:nvPr/>
        </p:nvSpPr>
        <p:spPr>
          <a:xfrm>
            <a:off x="1716178" y="175086"/>
            <a:ext cx="11908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 </a:t>
            </a:r>
            <a:r>
              <a:rPr lang="en-US" sz="72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6150C-8625-023B-D95C-879EDE779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C6FC2C-3B66-5A92-235D-8B493F877F00}"/>
              </a:ext>
            </a:extLst>
          </p:cNvPr>
          <p:cNvSpPr txBox="1"/>
          <p:nvPr/>
        </p:nvSpPr>
        <p:spPr>
          <a:xfrm>
            <a:off x="1635760" y="1444736"/>
            <a:ext cx="11908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4400" b="1" u="sng" dirty="0">
                <a:solidFill>
                  <a:srgbClr val="05DFC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CONST</a:t>
            </a:r>
            <a:r>
              <a:rPr lang="en-US" sz="4400" b="1" u="sng" dirty="0">
                <a:solidFill>
                  <a:schemeClr val="bg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and </a:t>
            </a:r>
            <a:r>
              <a:rPr lang="en-US" sz="4400" b="1" u="sng" dirty="0">
                <a:solidFill>
                  <a:srgbClr val="05DFC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C2B4B-CED8-0293-B074-61295EF4036C}"/>
              </a:ext>
            </a:extLst>
          </p:cNvPr>
          <p:cNvSpPr txBox="1"/>
          <p:nvPr/>
        </p:nvSpPr>
        <p:spPr>
          <a:xfrm>
            <a:off x="1981630" y="2143057"/>
            <a:ext cx="92654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>
                    <a:lumMod val="85000"/>
                  </a:schemeClr>
                </a:solidFill>
                <a:latin typeface="Glacial Indifference" pitchFamily="50" charset="0"/>
              </a:rPr>
              <a:t>A constant in dart is a variable whose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value cannot be changed</a:t>
            </a:r>
            <a:r>
              <a:rPr lang="en-GB" sz="2800" b="1" dirty="0">
                <a:solidFill>
                  <a:schemeClr val="bg1"/>
                </a:solidFill>
                <a:latin typeface="Glacial Indifference" pitchFamily="50" charset="0"/>
              </a:rPr>
              <a:t> </a:t>
            </a:r>
            <a:r>
              <a:rPr lang="en-GB" sz="2800" b="1" dirty="0">
                <a:solidFill>
                  <a:schemeClr val="bg1">
                    <a:lumMod val="85000"/>
                  </a:schemeClr>
                </a:solidFill>
                <a:latin typeface="Glacial Indifference" pitchFamily="50" charset="0"/>
              </a:rPr>
              <a:t>after it has been assigned.</a:t>
            </a:r>
          </a:p>
          <a:p>
            <a:endParaRPr lang="en-US" sz="2800" b="1" dirty="0">
              <a:solidFill>
                <a:schemeClr val="bg1"/>
              </a:solidFill>
              <a:latin typeface="Glacial Indifference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F0CD4-10C4-5691-D83C-8EF2631CD50A}"/>
              </a:ext>
            </a:extLst>
          </p:cNvPr>
          <p:cNvSpPr/>
          <p:nvPr/>
        </p:nvSpPr>
        <p:spPr>
          <a:xfrm>
            <a:off x="0" y="3429458"/>
            <a:ext cx="12192000" cy="2547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C4CFC-44C7-C98E-A865-476947CCDDEF}"/>
              </a:ext>
            </a:extLst>
          </p:cNvPr>
          <p:cNvSpPr txBox="1"/>
          <p:nvPr/>
        </p:nvSpPr>
        <p:spPr>
          <a:xfrm>
            <a:off x="462621" y="3905896"/>
            <a:ext cx="563337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A </a:t>
            </a:r>
            <a:r>
              <a:rPr lang="en-GB" sz="2000" b="1" dirty="0">
                <a:solidFill>
                  <a:schemeClr val="bg1"/>
                </a:solidFill>
                <a:latin typeface="Glacial Indifference" pitchFamily="50" charset="0"/>
              </a:rPr>
              <a:t>final</a:t>
            </a: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 </a:t>
            </a:r>
            <a:r>
              <a:rPr lang="en-GB" sz="2000" u="sng" dirty="0">
                <a:solidFill>
                  <a:schemeClr val="bg1"/>
                </a:solidFill>
                <a:latin typeface="Glacial Indifference" pitchFamily="50" charset="0"/>
              </a:rPr>
              <a:t>variable can only be assigned once</a:t>
            </a: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. After that, its value </a:t>
            </a:r>
            <a:r>
              <a:rPr lang="en-GB" sz="2000" u="sng" dirty="0">
                <a:solidFill>
                  <a:schemeClr val="bg1"/>
                </a:solidFill>
                <a:latin typeface="Glacial Indifference" pitchFamily="50" charset="0"/>
              </a:rPr>
              <a:t>cannot be changed</a:t>
            </a: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GB" sz="2000" dirty="0">
              <a:solidFill>
                <a:schemeClr val="bg1"/>
              </a:solidFill>
              <a:latin typeface="Glacial Indifference" pitchFamily="50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A </a:t>
            </a:r>
            <a:r>
              <a:rPr lang="en-GB" sz="2000" b="1" dirty="0" err="1">
                <a:solidFill>
                  <a:schemeClr val="bg1"/>
                </a:solidFill>
                <a:latin typeface="Glacial Indifference" pitchFamily="50" charset="0"/>
              </a:rPr>
              <a:t>const</a:t>
            </a: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 variable is a </a:t>
            </a:r>
            <a:r>
              <a:rPr lang="en-GB" sz="2000" u="sng" dirty="0">
                <a:solidFill>
                  <a:schemeClr val="bg1"/>
                </a:solidFill>
                <a:latin typeface="Glacial Indifference" pitchFamily="50" charset="0"/>
              </a:rPr>
              <a:t>compile-time constant</a:t>
            </a:r>
            <a:r>
              <a:rPr lang="en-GB" sz="2000" dirty="0">
                <a:solidFill>
                  <a:schemeClr val="bg1"/>
                </a:solidFill>
                <a:latin typeface="Glacial Indifference" pitchFamily="50" charset="0"/>
              </a:rPr>
              <a:t>. Its value must be known before the program runs and cannot be changed.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9935F9-5412-F8AB-8469-0EF103F9648C}"/>
              </a:ext>
            </a:extLst>
          </p:cNvPr>
          <p:cNvGraphicFramePr>
            <a:graphicFrameLocks noGrp="1"/>
          </p:cNvGraphicFramePr>
          <p:nvPr/>
        </p:nvGraphicFramePr>
        <p:xfrm>
          <a:off x="6457021" y="3857596"/>
          <a:ext cx="5170758" cy="207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85379">
                  <a:extLst>
                    <a:ext uri="{9D8B030D-6E8A-4147-A177-3AD203B41FA5}">
                      <a16:colId xmlns:a16="http://schemas.microsoft.com/office/drawing/2014/main" val="2685652081"/>
                    </a:ext>
                  </a:extLst>
                </a:gridCol>
                <a:gridCol w="2585379">
                  <a:extLst>
                    <a:ext uri="{9D8B030D-6E8A-4147-A177-3AD203B41FA5}">
                      <a16:colId xmlns:a16="http://schemas.microsoft.com/office/drawing/2014/main" val="185781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final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const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48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You </a:t>
                      </a:r>
                      <a:r>
                        <a:rPr lang="en-GB" b="1" u="sng" dirty="0">
                          <a:solidFill>
                            <a:schemeClr val="bg1"/>
                          </a:solidFill>
                        </a:rPr>
                        <a:t>decide not to change the value</a:t>
                      </a: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The value is </a:t>
                      </a:r>
                      <a:r>
                        <a:rPr lang="en-GB" b="1" u="sng" dirty="0">
                          <a:solidFill>
                            <a:schemeClr val="bg1"/>
                          </a:solidFill>
                        </a:rPr>
                        <a:t>naturally fixed</a:t>
                      </a: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 and never changes.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098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Ex.:</a:t>
                      </a:r>
                      <a:r>
                        <a:rPr lang="en-US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final name = "John";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</a:t>
                      </a:r>
                      <a:r>
                        <a:rPr lang="en-US" sz="1800" i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x.: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const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daysInWeek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= 7;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106350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90E34C41-E2D7-A101-75C5-147970B84DE6}"/>
              </a:ext>
            </a:extLst>
          </p:cNvPr>
          <p:cNvSpPr txBox="1"/>
          <p:nvPr/>
        </p:nvSpPr>
        <p:spPr>
          <a:xfrm>
            <a:off x="832689" y="632897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101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F234-DE86-D30C-FDF2-ECEB835C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C1CB2E-4DF7-0564-C4EB-9F5E58E55F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BED2B-66BE-1D90-2A60-B2433BE2CF30}"/>
              </a:ext>
            </a:extLst>
          </p:cNvPr>
          <p:cNvSpPr txBox="1"/>
          <p:nvPr/>
        </p:nvSpPr>
        <p:spPr>
          <a:xfrm>
            <a:off x="1716178" y="175086"/>
            <a:ext cx="119083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5400" b="1" dirty="0">
                <a:solidFill>
                  <a:schemeClr val="bg1"/>
                </a:solidFill>
                <a:latin typeface="Glacial Indifference" pitchFamily="50" charset="0"/>
              </a:rPr>
              <a:t>User Input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0B8BF-2A30-4C0F-3AC1-CA047DF1B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01" y="552039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CFB5EA-EB58-73DB-DBE0-56ED6E0CA7ED}"/>
              </a:ext>
            </a:extLst>
          </p:cNvPr>
          <p:cNvSpPr txBox="1"/>
          <p:nvPr/>
        </p:nvSpPr>
        <p:spPr>
          <a:xfrm>
            <a:off x="590550" y="2020852"/>
            <a:ext cx="11010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600" dirty="0">
                <a:solidFill>
                  <a:schemeClr val="bg1"/>
                </a:solidFill>
                <a:latin typeface="Glacial Indifference" pitchFamily="50" charset="0"/>
              </a:rPr>
              <a:t>User input </a:t>
            </a:r>
            <a:r>
              <a:rPr lang="en-GB" sz="3600" b="1" u="sng" dirty="0">
                <a:solidFill>
                  <a:schemeClr val="bg1"/>
                </a:solidFill>
                <a:latin typeface="Glacial Indifference" pitchFamily="50" charset="0"/>
              </a:rPr>
              <a:t>allows a program to receive information from the user</a:t>
            </a:r>
            <a:r>
              <a:rPr lang="en-GB" sz="3600" dirty="0">
                <a:solidFill>
                  <a:schemeClr val="bg1"/>
                </a:solidFill>
                <a:latin typeface="Glacial Indifference" pitchFamily="50" charset="0"/>
              </a:rPr>
              <a:t> while the program is running.</a:t>
            </a:r>
          </a:p>
          <a:p>
            <a:pPr>
              <a:buNone/>
            </a:pPr>
            <a:endParaRPr lang="en-GB" sz="3600" dirty="0">
              <a:solidFill>
                <a:schemeClr val="bg1"/>
              </a:solidFill>
              <a:latin typeface="Glacial Indifference" pitchFamily="50" charset="0"/>
            </a:endParaRPr>
          </a:p>
          <a:p>
            <a:pPr>
              <a:buNone/>
            </a:pPr>
            <a:r>
              <a:rPr lang="en-GB" sz="3600" dirty="0">
                <a:solidFill>
                  <a:schemeClr val="bg1">
                    <a:lumMod val="85000"/>
                  </a:schemeClr>
                </a:solidFill>
                <a:latin typeface="Glacial Indifference" pitchFamily="50" charset="0"/>
              </a:rPr>
              <a:t>Like: name, age, email, phone number, etc</a:t>
            </a:r>
          </a:p>
          <a:p>
            <a:pPr>
              <a:buNone/>
            </a:pPr>
            <a:endParaRPr lang="en-GB" sz="3600" dirty="0">
              <a:solidFill>
                <a:schemeClr val="bg1">
                  <a:lumMod val="85000"/>
                </a:schemeClr>
              </a:solidFill>
              <a:latin typeface="Glacial Indifference" pitchFamily="50" charset="0"/>
            </a:endParaRPr>
          </a:p>
          <a:p>
            <a:pPr>
              <a:buNone/>
            </a:pPr>
            <a:endParaRPr lang="en-GB" sz="3600" dirty="0">
              <a:solidFill>
                <a:schemeClr val="bg1">
                  <a:lumMod val="85000"/>
                </a:schemeClr>
              </a:solidFill>
              <a:latin typeface="Glacial Indifference" pitchFamily="50" charset="0"/>
            </a:endParaRPr>
          </a:p>
          <a:p>
            <a:pPr algn="ctr"/>
            <a:r>
              <a:rPr lang="en-GB" sz="3600" b="1" dirty="0">
                <a:solidFill>
                  <a:srgbClr val="FF0000"/>
                </a:solidFill>
                <a:latin typeface="Glacial Indifference" pitchFamily="50" charset="0"/>
              </a:rPr>
              <a:t>ITS RESULT ALWAYS RETURNS </a:t>
            </a:r>
            <a:r>
              <a:rPr lang="en-GB" sz="3600" b="1" u="sng" dirty="0">
                <a:solidFill>
                  <a:srgbClr val="FF0000"/>
                </a:solidFill>
                <a:latin typeface="Glacial Indifference" pitchFamily="50" charset="0"/>
              </a:rPr>
              <a:t>STRING</a:t>
            </a:r>
            <a:r>
              <a:rPr lang="en-GB" sz="3600" b="1" dirty="0">
                <a:solidFill>
                  <a:srgbClr val="FF0000"/>
                </a:solidFill>
                <a:latin typeface="Glacial Indifference" pitchFamily="50" charset="0"/>
              </a:rPr>
              <a:t> 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22D65668-DC6F-0565-8211-5A52BCC89A94}"/>
              </a:ext>
            </a:extLst>
          </p:cNvPr>
          <p:cNvSpPr txBox="1"/>
          <p:nvPr/>
        </p:nvSpPr>
        <p:spPr>
          <a:xfrm>
            <a:off x="832689" y="632897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6157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BD3D-090F-8A6C-ED2C-5E5F8A8C9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C520968-7AC7-F7C9-388C-DA3EE61F62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BE0B7-AAAF-290E-3C07-342B85D509F9}"/>
              </a:ext>
            </a:extLst>
          </p:cNvPr>
          <p:cNvSpPr txBox="1"/>
          <p:nvPr/>
        </p:nvSpPr>
        <p:spPr>
          <a:xfrm>
            <a:off x="1716178" y="175086"/>
            <a:ext cx="119083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6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TYPE CONVERSION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F6A61-A420-2737-C4F7-3EF59301D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61" y="644372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A66B51-41B4-3C37-FE65-02BD81D5E7CB}"/>
              </a:ext>
            </a:extLst>
          </p:cNvPr>
          <p:cNvSpPr txBox="1"/>
          <p:nvPr/>
        </p:nvSpPr>
        <p:spPr>
          <a:xfrm>
            <a:off x="1716178" y="2502524"/>
            <a:ext cx="80374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dirty="0">
                <a:solidFill>
                  <a:schemeClr val="bg1"/>
                </a:solidFill>
                <a:latin typeface="Glacial Indifference" pitchFamily="50" charset="0"/>
              </a:rPr>
              <a:t>Type conversion is the process of </a:t>
            </a:r>
            <a:r>
              <a:rPr lang="en-GB" sz="3200" b="1" dirty="0">
                <a:solidFill>
                  <a:srgbClr val="05DFC4"/>
                </a:solidFill>
                <a:latin typeface="Glacial Indifference" pitchFamily="50" charset="0"/>
              </a:rPr>
              <a:t>changing one data type into another</a:t>
            </a:r>
            <a:r>
              <a:rPr lang="en-GB" sz="3200" dirty="0">
                <a:solidFill>
                  <a:srgbClr val="05DFC4"/>
                </a:solidFill>
                <a:latin typeface="Glacial Indifference" pitchFamily="50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99FBE-D612-49DD-8325-B76700223C53}"/>
              </a:ext>
            </a:extLst>
          </p:cNvPr>
          <p:cNvGraphicFramePr>
            <a:graphicFrameLocks noGrp="1"/>
          </p:cNvGraphicFramePr>
          <p:nvPr/>
        </p:nvGraphicFramePr>
        <p:xfrm>
          <a:off x="716280" y="3968188"/>
          <a:ext cx="10723880" cy="2316480"/>
        </p:xfrm>
        <a:graphic>
          <a:graphicData uri="http://schemas.openxmlformats.org/drawingml/2006/table">
            <a:tbl>
              <a:tblPr/>
              <a:tblGrid>
                <a:gridCol w="4066785">
                  <a:extLst>
                    <a:ext uri="{9D8B030D-6E8A-4147-A177-3AD203B41FA5}">
                      <a16:colId xmlns:a16="http://schemas.microsoft.com/office/drawing/2014/main" val="107959661"/>
                    </a:ext>
                  </a:extLst>
                </a:gridCol>
                <a:gridCol w="6657095">
                  <a:extLst>
                    <a:ext uri="{9D8B030D-6E8A-4147-A177-3AD203B41FA5}">
                      <a16:colId xmlns:a16="http://schemas.microsoft.com/office/drawing/2014/main" val="1441185639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i="1" u="sng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Conversion Function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i="1" u="sng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74704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int.parse()</a:t>
                      </a:r>
                      <a:endParaRPr lang="en-US" sz="2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Converts a String to an integer.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75024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double.parse()</a:t>
                      </a:r>
                      <a:endParaRPr lang="en-US" sz="2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Converts a String to a decimal number.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11821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toString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Converts a value to a String.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5593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411122-35B1-B281-692A-C9C014474195}"/>
              </a:ext>
            </a:extLst>
          </p:cNvPr>
          <p:cNvSpPr txBox="1"/>
          <p:nvPr/>
        </p:nvSpPr>
        <p:spPr>
          <a:xfrm>
            <a:off x="832689" y="641443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6735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85FB-1802-E58E-0C5F-A7357A7C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EBDF5D-7EE7-B662-2B20-D2B01616C2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E0083-9946-775A-4254-868A8E42D808}"/>
              </a:ext>
            </a:extLst>
          </p:cNvPr>
          <p:cNvSpPr txBox="1"/>
          <p:nvPr/>
        </p:nvSpPr>
        <p:spPr>
          <a:xfrm>
            <a:off x="1462178" y="175085"/>
            <a:ext cx="119083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5DFC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Type Inference  </a:t>
            </a:r>
            <a:r>
              <a:rPr lang="en-US" sz="5400" dirty="0">
                <a:solidFill>
                  <a:schemeClr val="bg1"/>
                </a:solidFill>
              </a:rPr>
              <a:t>= </a:t>
            </a:r>
            <a:r>
              <a:rPr lang="en-US" sz="5400" b="1" i="1" dirty="0">
                <a:solidFill>
                  <a:srgbClr val="058CD5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var </a:t>
            </a:r>
            <a:r>
              <a:rPr lang="en-US" sz="5400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vs</a:t>
            </a:r>
            <a:r>
              <a:rPr lang="en-US" sz="5400" b="1" i="1" dirty="0">
                <a:solidFill>
                  <a:srgbClr val="058CD5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dynamic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4E329-1251-ACFD-B38B-36FE53F60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0" y="475095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D3820D-6ACC-3C53-C195-F2061DF1A2C1}"/>
              </a:ext>
            </a:extLst>
          </p:cNvPr>
          <p:cNvGraphicFramePr>
            <a:graphicFrameLocks noGrp="1"/>
          </p:cNvGraphicFramePr>
          <p:nvPr/>
        </p:nvGraphicFramePr>
        <p:xfrm>
          <a:off x="233680" y="2250618"/>
          <a:ext cx="11714480" cy="4048582"/>
        </p:xfrm>
        <a:graphic>
          <a:graphicData uri="http://schemas.openxmlformats.org/drawingml/2006/table">
            <a:tbl>
              <a:tblPr/>
              <a:tblGrid>
                <a:gridCol w="5857240">
                  <a:extLst>
                    <a:ext uri="{9D8B030D-6E8A-4147-A177-3AD203B41FA5}">
                      <a16:colId xmlns:a16="http://schemas.microsoft.com/office/drawing/2014/main" val="727746825"/>
                    </a:ext>
                  </a:extLst>
                </a:gridCol>
                <a:gridCol w="5857240">
                  <a:extLst>
                    <a:ext uri="{9D8B030D-6E8A-4147-A177-3AD203B41FA5}">
                      <a16:colId xmlns:a16="http://schemas.microsoft.com/office/drawing/2014/main" val="2182414352"/>
                    </a:ext>
                  </a:extLst>
                </a:gridCol>
              </a:tblGrid>
              <a:tr h="1213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var</a:t>
                      </a:r>
                      <a:endParaRPr lang="en-US" sz="4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dynamic</a:t>
                      </a:r>
                      <a:endParaRPr lang="en-US" sz="4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71058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Dart automatically determines the data type.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Can store any data type.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563055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Type is fixed after the first assignment.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Type can change at any time.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16384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Safer and recommended.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Flexible, but should be used only when necessary.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744026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F0126C8C-DD54-F04F-2FA5-797C57DCB816}"/>
              </a:ext>
            </a:extLst>
          </p:cNvPr>
          <p:cNvSpPr txBox="1"/>
          <p:nvPr/>
        </p:nvSpPr>
        <p:spPr>
          <a:xfrm>
            <a:off x="174661" y="6405885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332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8D33-C637-5734-0DA2-AADF7573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69F5096-6906-4730-EE7D-148EC1B62C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5853C-786A-88E7-ED47-5C4D3EDD46D4}"/>
              </a:ext>
            </a:extLst>
          </p:cNvPr>
          <p:cNvSpPr txBox="1"/>
          <p:nvPr/>
        </p:nvSpPr>
        <p:spPr>
          <a:xfrm>
            <a:off x="1716178" y="175086"/>
            <a:ext cx="119083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Operators – </a:t>
            </a: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arithmetic, assignment, Comparison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72139-DFEF-3B48-AF6F-3D8DC30DD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FDB607-1546-1110-01F7-219757A84430}"/>
              </a:ext>
            </a:extLst>
          </p:cNvPr>
          <p:cNvGraphicFramePr>
            <a:graphicFrameLocks noGrp="1"/>
          </p:cNvGraphicFramePr>
          <p:nvPr/>
        </p:nvGraphicFramePr>
        <p:xfrm>
          <a:off x="462621" y="2371362"/>
          <a:ext cx="11394099" cy="3657600"/>
        </p:xfrm>
        <a:graphic>
          <a:graphicData uri="http://schemas.openxmlformats.org/drawingml/2006/table">
            <a:tbl>
              <a:tblPr/>
              <a:tblGrid>
                <a:gridCol w="3798033">
                  <a:extLst>
                    <a:ext uri="{9D8B030D-6E8A-4147-A177-3AD203B41FA5}">
                      <a16:colId xmlns:a16="http://schemas.microsoft.com/office/drawing/2014/main" val="576163876"/>
                    </a:ext>
                  </a:extLst>
                </a:gridCol>
                <a:gridCol w="3798033">
                  <a:extLst>
                    <a:ext uri="{9D8B030D-6E8A-4147-A177-3AD203B41FA5}">
                      <a16:colId xmlns:a16="http://schemas.microsoft.com/office/drawing/2014/main" val="1108866506"/>
                    </a:ext>
                  </a:extLst>
                </a:gridCol>
                <a:gridCol w="3798033">
                  <a:extLst>
                    <a:ext uri="{9D8B030D-6E8A-4147-A177-3AD203B41FA5}">
                      <a16:colId xmlns:a16="http://schemas.microsoft.com/office/drawing/2014/main" val="467763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1" u="sng">
                          <a:solidFill>
                            <a:schemeClr val="bg1"/>
                          </a:solidFill>
                        </a:rPr>
                        <a:t>Operator Type</a:t>
                      </a:r>
                      <a:endParaRPr lang="en-US" sz="2400" i="1" u="sng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1" u="sng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2400" i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1" u="sng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2400" i="1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427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Arithmetic Operators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Used to perform mathematical calculations on numbers.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%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73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Assignment Operators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Used to assign or update the value of a variable.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-=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/=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41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Comparison Operators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Used to compare two values and return either </a:t>
                      </a:r>
                      <a:r>
                        <a:rPr lang="en-GB" sz="2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 or </a:t>
                      </a:r>
                      <a:r>
                        <a:rPr lang="en-GB" sz="2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!=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&gt;=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&lt;=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124787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C955E986-F322-5499-98C0-8146DCAD9990}"/>
              </a:ext>
            </a:extLst>
          </p:cNvPr>
          <p:cNvSpPr txBox="1"/>
          <p:nvPr/>
        </p:nvSpPr>
        <p:spPr>
          <a:xfrm>
            <a:off x="448128" y="6354609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5301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34E8-64D2-1334-04A0-7CEC8796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FCCDEF9-8A47-7BF2-867B-360CCE73A7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072ED-F3E5-993F-8C15-7EDDDB6BE604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Conditional Statement – </a:t>
            </a:r>
            <a:r>
              <a:rPr lang="en-US" sz="44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if and else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32455-1D61-B86A-BC46-F227205D0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932206-0BD1-525F-5303-0CA8FB0289B9}"/>
              </a:ext>
            </a:extLst>
          </p:cNvPr>
          <p:cNvSpPr txBox="1"/>
          <p:nvPr/>
        </p:nvSpPr>
        <p:spPr>
          <a:xfrm>
            <a:off x="1269138" y="2509520"/>
            <a:ext cx="10252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A conditional statement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allows a program to make decisions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based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on whether a condition is true or false.</a:t>
            </a:r>
          </a:p>
          <a:p>
            <a:endParaRPr lang="en-US" sz="2800" dirty="0">
              <a:solidFill>
                <a:schemeClr val="bg1"/>
              </a:solidFill>
              <a:latin typeface="Glacial Indifference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286C5-7662-A623-ABAE-371C05EFF1E0}"/>
              </a:ext>
            </a:extLst>
          </p:cNvPr>
          <p:cNvSpPr txBox="1"/>
          <p:nvPr/>
        </p:nvSpPr>
        <p:spPr>
          <a:xfrm>
            <a:off x="1463040" y="3782193"/>
            <a:ext cx="2915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Arial Unicode MS"/>
              </a:rPr>
              <a:t>if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altLang="en-US" sz="5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Arial Unicode MS"/>
              </a:rPr>
              <a:t>if...else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altLang="en-US" sz="5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Arial Unicode MS"/>
              </a:rPr>
              <a:t>else if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altLang="en-US" sz="5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Arial Unicode MS"/>
              </a:rPr>
              <a:t>switch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altLang="en-US" sz="5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DFE7FEA-DCD9-BF58-21EE-4FE799CC6EB6}"/>
              </a:ext>
            </a:extLst>
          </p:cNvPr>
          <p:cNvSpPr txBox="1"/>
          <p:nvPr/>
        </p:nvSpPr>
        <p:spPr>
          <a:xfrm>
            <a:off x="1328346" y="632897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0557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3A6E-A0CD-5770-772F-62515960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65B46E-4029-45A0-A922-123CB87BBC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3959F-2530-9579-296C-CBFB6F9362D7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Logical Operators – AND, OR, NOT 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643EA-8B37-F50B-89E8-BCF497F7A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DE9F76-9D63-1677-49D7-076E8048FCC8}"/>
              </a:ext>
            </a:extLst>
          </p:cNvPr>
          <p:cNvSpPr txBox="1"/>
          <p:nvPr/>
        </p:nvSpPr>
        <p:spPr>
          <a:xfrm>
            <a:off x="1463040" y="2044005"/>
            <a:ext cx="10252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Logical operators are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used to combine two 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or more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conditions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into a single condition.</a:t>
            </a:r>
          </a:p>
          <a:p>
            <a:endParaRPr lang="en-US" sz="2800" dirty="0">
              <a:solidFill>
                <a:schemeClr val="bg1"/>
              </a:solidFill>
              <a:latin typeface="Glacial Indifference" pitchFamily="50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8471AD-790B-0BAD-3988-F815A77F57C8}"/>
              </a:ext>
            </a:extLst>
          </p:cNvPr>
          <p:cNvGraphicFramePr>
            <a:graphicFrameLocks noGrp="1"/>
          </p:cNvGraphicFramePr>
          <p:nvPr/>
        </p:nvGraphicFramePr>
        <p:xfrm>
          <a:off x="462621" y="3353128"/>
          <a:ext cx="11252721" cy="2926080"/>
        </p:xfrm>
        <a:graphic>
          <a:graphicData uri="http://schemas.openxmlformats.org/drawingml/2006/table">
            <a:tbl>
              <a:tblPr/>
              <a:tblGrid>
                <a:gridCol w="1660820">
                  <a:extLst>
                    <a:ext uri="{9D8B030D-6E8A-4147-A177-3AD203B41FA5}">
                      <a16:colId xmlns:a16="http://schemas.microsoft.com/office/drawing/2014/main" val="3151067792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1081704518"/>
                    </a:ext>
                  </a:extLst>
                </a:gridCol>
                <a:gridCol w="6787741">
                  <a:extLst>
                    <a:ext uri="{9D8B030D-6E8A-4147-A177-3AD203B41FA5}">
                      <a16:colId xmlns:a16="http://schemas.microsoft.com/office/drawing/2014/main" val="28523201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Operator</a:t>
                      </a: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Meaning</a:t>
                      </a: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Description</a:t>
                      </a: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07083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&amp;&amp;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AND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Both conditions must be true.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7621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||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OR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At least one condition must be true.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7043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!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NOT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Reverses the result (true becomes false, false becomes true).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421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7B06F7-6D9D-D21B-545A-11B01A016815}"/>
              </a:ext>
            </a:extLst>
          </p:cNvPr>
          <p:cNvSpPr txBox="1"/>
          <p:nvPr/>
        </p:nvSpPr>
        <p:spPr>
          <a:xfrm>
            <a:off x="405398" y="6422977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4156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DABBF-EE26-A6DC-209B-807D4683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F7DE523-6404-D1CD-03DE-9DEBD0C8AE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B4A75-7724-CC8B-AA20-3BBE2E65CE9F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LOOPS   </a:t>
            </a:r>
            <a:r>
              <a:rPr lang="en-US" sz="44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–   for  loop &amp; while loop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2EA50-69B3-B891-642C-A336C5438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81" y="36101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D234C3-8FD4-243B-92F6-04B72768B620}"/>
              </a:ext>
            </a:extLst>
          </p:cNvPr>
          <p:cNvSpPr txBox="1"/>
          <p:nvPr/>
        </p:nvSpPr>
        <p:spPr>
          <a:xfrm>
            <a:off x="1524000" y="1908132"/>
            <a:ext cx="96630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A loop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is used to repeat a block of code multiple times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without writing the same code repeatedly.</a:t>
            </a:r>
          </a:p>
          <a:p>
            <a:pPr>
              <a:buNone/>
            </a:pPr>
            <a:endParaRPr lang="en-GB" sz="2800" dirty="0">
              <a:solidFill>
                <a:schemeClr val="bg1"/>
              </a:solidFill>
              <a:latin typeface="Glacial Indifference" pitchFamily="50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B146E7-86F3-23B2-52B1-3FF2C1E38C72}"/>
              </a:ext>
            </a:extLst>
          </p:cNvPr>
          <p:cNvGraphicFramePr>
            <a:graphicFrameLocks noGrp="1"/>
          </p:cNvGraphicFramePr>
          <p:nvPr/>
        </p:nvGraphicFramePr>
        <p:xfrm>
          <a:off x="320040" y="3429000"/>
          <a:ext cx="11668761" cy="3067982"/>
        </p:xfrm>
        <a:graphic>
          <a:graphicData uri="http://schemas.openxmlformats.org/drawingml/2006/table">
            <a:tbl>
              <a:tblPr/>
              <a:tblGrid>
                <a:gridCol w="2372360">
                  <a:extLst>
                    <a:ext uri="{9D8B030D-6E8A-4147-A177-3AD203B41FA5}">
                      <a16:colId xmlns:a16="http://schemas.microsoft.com/office/drawing/2014/main" val="174688633"/>
                    </a:ext>
                  </a:extLst>
                </a:gridCol>
                <a:gridCol w="4338320">
                  <a:extLst>
                    <a:ext uri="{9D8B030D-6E8A-4147-A177-3AD203B41FA5}">
                      <a16:colId xmlns:a16="http://schemas.microsoft.com/office/drawing/2014/main" val="1994471550"/>
                    </a:ext>
                  </a:extLst>
                </a:gridCol>
                <a:gridCol w="4958081">
                  <a:extLst>
                    <a:ext uri="{9D8B030D-6E8A-4147-A177-3AD203B41FA5}">
                      <a16:colId xmlns:a16="http://schemas.microsoft.com/office/drawing/2014/main" val="4238930660"/>
                    </a:ext>
                  </a:extLst>
                </a:gridCol>
              </a:tblGrid>
              <a:tr h="7985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bg1"/>
                          </a:solidFill>
                        </a:rPr>
                        <a:t>Loop</a:t>
                      </a:r>
                      <a:endParaRPr lang="en-US" sz="32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32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bg1"/>
                          </a:solidFill>
                        </a:rPr>
                        <a:t>Best Used When</a:t>
                      </a:r>
                      <a:endParaRPr lang="en-US" sz="32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352244"/>
                  </a:ext>
                </a:extLst>
              </a:tr>
              <a:tr h="1134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 Loop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Repeats a block of code a specific number of times</a:t>
                      </a:r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solidFill>
                            <a:schemeClr val="bg1"/>
                          </a:solidFill>
                        </a:rPr>
                        <a:t>You know how many times you want to repeat the task.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23031"/>
                  </a:ext>
                </a:extLst>
              </a:tr>
              <a:tr h="1134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 Loop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kern="1200" dirty="0">
                          <a:solidFill>
                            <a:schemeClr val="bg1"/>
                          </a:solidFill>
                          <a:latin typeface="Glacial Indifference" pitchFamily="50" charset="0"/>
                          <a:ea typeface="+mn-ea"/>
                          <a:cs typeface="+mn-cs"/>
                        </a:rPr>
                        <a:t>Repeats a block of code as long as a condition is true.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You don't know exactly how many times the loop will run.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95174"/>
                  </a:ext>
                </a:extLst>
              </a:tr>
            </a:tbl>
          </a:graphicData>
        </a:graphic>
      </p:graphicFrame>
      <p:sp>
        <p:nvSpPr>
          <p:cNvPr id="2" name="TextBox 4">
            <a:extLst>
              <a:ext uri="{FF2B5EF4-FFF2-40B4-BE49-F238E27FC236}">
                <a16:creationId xmlns:a16="http://schemas.microsoft.com/office/drawing/2014/main" id="{57C9D34B-CEAA-ACA0-8726-0A2EE3055153}"/>
              </a:ext>
            </a:extLst>
          </p:cNvPr>
          <p:cNvSpPr txBox="1"/>
          <p:nvPr/>
        </p:nvSpPr>
        <p:spPr>
          <a:xfrm>
            <a:off x="243028" y="6551166"/>
            <a:ext cx="1080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Watch on YouTube</a:t>
            </a:r>
            <a:r>
              <a:rPr lang="en-US" sz="14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0700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5AD4-EB12-7F6D-5985-8FD2F445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B2F93D-8B0B-CE0D-5EDE-C7CAEFD68D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AFD7D-B567-8F82-935E-0D46A8141B48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Increment(++) &amp; Decrement(--)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8E9EF-6853-C62E-18B7-DAA0A7888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D81ED1-CA4B-E2C5-D7DE-FD3BE74A8ED9}"/>
              </a:ext>
            </a:extLst>
          </p:cNvPr>
          <p:cNvSpPr txBox="1"/>
          <p:nvPr/>
        </p:nvSpPr>
        <p:spPr>
          <a:xfrm>
            <a:off x="1925661" y="1821867"/>
            <a:ext cx="6797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INCREMENT</a:t>
            </a:r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  </a:t>
            </a:r>
            <a:r>
              <a:rPr lang="en-GB" sz="2800" b="1" dirty="0">
                <a:solidFill>
                  <a:schemeClr val="bg1"/>
                </a:solidFill>
                <a:latin typeface="Glacial Indifference" pitchFamily="50" charset="0"/>
              </a:rPr>
              <a:t>and  </a:t>
            </a:r>
            <a:r>
              <a:rPr lang="en-GB" sz="2800" b="1" u="sng" dirty="0">
                <a:solidFill>
                  <a:srgbClr val="FFFF00"/>
                </a:solidFill>
                <a:latin typeface="Glacial Indifference" pitchFamily="50" charset="0"/>
              </a:rPr>
              <a:t>DECREMENT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operators are used to </a:t>
            </a:r>
            <a:r>
              <a:rPr lang="en-GB" sz="2800" b="1" u="sng" dirty="0">
                <a:solidFill>
                  <a:srgbClr val="05DFC4"/>
                </a:solidFill>
                <a:latin typeface="Glacial Indifference" pitchFamily="50" charset="0"/>
              </a:rPr>
              <a:t>INCREASE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 or </a:t>
            </a:r>
            <a:r>
              <a:rPr lang="en-GB" sz="2800" b="1" u="sng" dirty="0">
                <a:solidFill>
                  <a:srgbClr val="FFFF00"/>
                </a:solidFill>
                <a:latin typeface="Glacial Indifference" pitchFamily="50" charset="0"/>
              </a:rPr>
              <a:t>DECREASE</a:t>
            </a:r>
            <a:r>
              <a:rPr lang="en-GB" sz="2800" b="1" dirty="0">
                <a:solidFill>
                  <a:srgbClr val="FFFF00"/>
                </a:solidFill>
                <a:latin typeface="Glacial Indifference" pitchFamily="50" charset="0"/>
              </a:rPr>
              <a:t> </a:t>
            </a:r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a variable by 1.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8D5289-5F5D-A961-2553-517FA0D31BAA}"/>
              </a:ext>
            </a:extLst>
          </p:cNvPr>
          <p:cNvGraphicFramePr>
            <a:graphicFrameLocks noGrp="1"/>
          </p:cNvGraphicFramePr>
          <p:nvPr/>
        </p:nvGraphicFramePr>
        <p:xfrm>
          <a:off x="462621" y="3353128"/>
          <a:ext cx="11252721" cy="3200400"/>
        </p:xfrm>
        <a:graphic>
          <a:graphicData uri="http://schemas.openxmlformats.org/drawingml/2006/table">
            <a:tbl>
              <a:tblPr/>
              <a:tblGrid>
                <a:gridCol w="5135539">
                  <a:extLst>
                    <a:ext uri="{9D8B030D-6E8A-4147-A177-3AD203B41FA5}">
                      <a16:colId xmlns:a16="http://schemas.microsoft.com/office/drawing/2014/main" val="3151067792"/>
                    </a:ext>
                  </a:extLst>
                </a:gridCol>
                <a:gridCol w="5908902">
                  <a:extLst>
                    <a:ext uri="{9D8B030D-6E8A-4147-A177-3AD203B41FA5}">
                      <a16:colId xmlns:a16="http://schemas.microsoft.com/office/drawing/2014/main" val="10817045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523201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Operator</a:t>
                      </a: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Meaning</a:t>
                      </a: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u="sng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07083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8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++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Increase by 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2000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7621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8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--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latin typeface="Glacial Indifference" pitchFamily="50" charset="0"/>
                        </a:rPr>
                        <a:t>Decrease by 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2000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7043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4800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3200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2000" dirty="0">
                        <a:solidFill>
                          <a:schemeClr val="bg1"/>
                        </a:solidFill>
                        <a:latin typeface="Glacial Indifference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421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6AC523-61E2-6046-A9B7-FCDF79DAC4B4}"/>
              </a:ext>
            </a:extLst>
          </p:cNvPr>
          <p:cNvSpPr txBox="1"/>
          <p:nvPr/>
        </p:nvSpPr>
        <p:spPr>
          <a:xfrm>
            <a:off x="413944" y="6576797"/>
            <a:ext cx="1080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Watch on YouTube</a:t>
            </a:r>
            <a:r>
              <a:rPr lang="en-US" sz="14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577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D029-AD4E-8843-3979-77AF8696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65F288-8712-B31C-58FC-45228FDED5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88CB2-9483-820D-52B8-037DE34EF1B8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functions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7C060-5FC6-5EFD-488D-92259CBCC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55BB63-6277-713C-EB8B-B509079B32ED}"/>
              </a:ext>
            </a:extLst>
          </p:cNvPr>
          <p:cNvSpPr txBox="1"/>
          <p:nvPr/>
        </p:nvSpPr>
        <p:spPr>
          <a:xfrm>
            <a:off x="1925661" y="1734648"/>
            <a:ext cx="790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Glacial Indifference" pitchFamily="50" charset="0"/>
              </a:rPr>
              <a:t>A function is a </a:t>
            </a:r>
            <a:r>
              <a:rPr lang="en-GB" sz="2800" b="1" u="sng" dirty="0">
                <a:solidFill>
                  <a:schemeClr val="bg1"/>
                </a:solidFill>
                <a:latin typeface="Glacial Indifference" pitchFamily="50" charset="0"/>
              </a:rPr>
              <a:t>reusable</a:t>
            </a:r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 block of code</a:t>
            </a:r>
            <a:r>
              <a:rPr lang="en-GB" sz="2800" b="1" dirty="0">
                <a:solidFill>
                  <a:schemeClr val="bg1"/>
                </a:solidFill>
                <a:latin typeface="Glacial Indifference" pitchFamily="50" charset="0"/>
              </a:rPr>
              <a:t> </a:t>
            </a:r>
            <a:r>
              <a:rPr lang="en-GB" sz="2800" b="1" u="sng" dirty="0">
                <a:solidFill>
                  <a:schemeClr val="bg1"/>
                </a:solidFill>
                <a:latin typeface="Glacial Indifference" pitchFamily="50" charset="0"/>
              </a:rPr>
              <a:t>that performs a specific task.</a:t>
            </a:r>
            <a:r>
              <a:rPr lang="en-GB" sz="2800" b="1" dirty="0">
                <a:solidFill>
                  <a:schemeClr val="bg1"/>
                </a:solidFill>
                <a:latin typeface="Glacial Indifference" pitchFamily="50" charset="0"/>
              </a:rPr>
              <a:t> </a:t>
            </a:r>
          </a:p>
          <a:p>
            <a:endParaRPr lang="en-GB" sz="2800" dirty="0">
              <a:solidFill>
                <a:schemeClr val="bg1"/>
              </a:solidFill>
              <a:latin typeface="Glacial Indifference" pitchFamily="50" charset="0"/>
            </a:endParaRPr>
          </a:p>
          <a:p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You CALL (invoke) it when you need to use it.</a:t>
            </a:r>
          </a:p>
          <a:p>
            <a:endParaRPr lang="en-GB" sz="2800" b="1">
              <a:solidFill>
                <a:srgbClr val="05DFC4"/>
              </a:solidFill>
              <a:latin typeface="Glacial Indifference" pitchFamily="50" charset="0"/>
            </a:endParaRPr>
          </a:p>
          <a:p>
            <a:endParaRPr lang="en-GB" sz="2800" b="1" dirty="0">
              <a:solidFill>
                <a:srgbClr val="05DFC4"/>
              </a:solidFill>
              <a:latin typeface="Glacial Indifference" pitchFamily="50" charset="0"/>
            </a:endParaRPr>
          </a:p>
          <a:p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void </a:t>
            </a:r>
            <a:r>
              <a:rPr lang="en-GB" sz="2800" b="1" dirty="0" err="1">
                <a:solidFill>
                  <a:schemeClr val="bg1"/>
                </a:solidFill>
                <a:latin typeface="Glacial Indifference" pitchFamily="50" charset="0"/>
              </a:rPr>
              <a:t>functionName</a:t>
            </a:r>
            <a:r>
              <a:rPr lang="en-GB" sz="2800" b="1" dirty="0">
                <a:solidFill>
                  <a:srgbClr val="058CD5"/>
                </a:solidFill>
                <a:latin typeface="Glacial Indifference" pitchFamily="50" charset="0"/>
              </a:rPr>
              <a:t>()</a:t>
            </a:r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 {</a:t>
            </a:r>
          </a:p>
          <a:p>
            <a:endParaRPr lang="en-GB" sz="2800" b="1" dirty="0">
              <a:solidFill>
                <a:srgbClr val="05DFC4"/>
              </a:solidFill>
              <a:latin typeface="Glacial Indifference" pitchFamily="50" charset="0"/>
            </a:endParaRPr>
          </a:p>
          <a:p>
            <a:r>
              <a:rPr lang="en-GB" sz="2800" b="1" dirty="0">
                <a:solidFill>
                  <a:srgbClr val="05DFC4"/>
                </a:solidFill>
                <a:latin typeface="Glacial Indifference" pitchFamily="50" charset="0"/>
              </a:rPr>
              <a:t>	}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0F90FE1-5700-69F7-FC5D-D68FF5994FE6}"/>
              </a:ext>
            </a:extLst>
          </p:cNvPr>
          <p:cNvSpPr txBox="1"/>
          <p:nvPr/>
        </p:nvSpPr>
        <p:spPr>
          <a:xfrm>
            <a:off x="832689" y="632897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6103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8041-A3B5-9341-B00D-279F31D0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05C6CB-4A9F-2754-CA8C-4015926A72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EE6F1-B1D9-C7E1-E000-10AF7677FA6E}"/>
              </a:ext>
            </a:extLst>
          </p:cNvPr>
          <p:cNvSpPr txBox="1"/>
          <p:nvPr/>
        </p:nvSpPr>
        <p:spPr>
          <a:xfrm>
            <a:off x="1716178" y="96705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NULL SAFETY   -   </a:t>
            </a:r>
            <a:r>
              <a:rPr lang="en-US" sz="4400" b="1" dirty="0">
                <a:solidFill>
                  <a:srgbClr val="05DFC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?</a:t>
            </a:r>
            <a:endParaRPr lang="en-US" sz="1100" dirty="0">
              <a:solidFill>
                <a:srgbClr val="05DFC4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E8AF4-3F45-CEB2-E076-6C2E87227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55" y="341386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D3EE9C-A448-0C87-1773-BA45CF44323E}"/>
              </a:ext>
            </a:extLst>
          </p:cNvPr>
          <p:cNvSpPr txBox="1"/>
          <p:nvPr/>
        </p:nvSpPr>
        <p:spPr>
          <a:xfrm>
            <a:off x="1478574" y="1648355"/>
            <a:ext cx="973129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05DFC4"/>
                </a:solidFill>
                <a:latin typeface="Glacial Indifference" pitchFamily="50" charset="0"/>
              </a:rPr>
              <a:t>Null safety is a feature in Dart that </a:t>
            </a:r>
            <a:r>
              <a:rPr lang="en-GB" sz="2400" b="1" u="sng" dirty="0">
                <a:solidFill>
                  <a:srgbClr val="05DFC4"/>
                </a:solidFill>
                <a:latin typeface="Glacial Indifference" pitchFamily="50" charset="0"/>
              </a:rPr>
              <a:t>helps prevent errors</a:t>
            </a:r>
            <a:r>
              <a:rPr lang="en-GB" sz="2400" b="1" dirty="0">
                <a:solidFill>
                  <a:srgbClr val="05DFC4"/>
                </a:solidFill>
                <a:latin typeface="Glacial Indifference" pitchFamily="50" charset="0"/>
              </a:rPr>
              <a:t> caused by using variables that contain no value</a:t>
            </a:r>
            <a:r>
              <a:rPr lang="en-GB" sz="2400" dirty="0">
                <a:solidFill>
                  <a:schemeClr val="bg1"/>
                </a:solidFill>
                <a:latin typeface="Glacial Indifference" pitchFamily="50" charset="0"/>
              </a:rPr>
              <a:t> (null) by making developers explicitly define whether a variable can store null or not.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F257B5-E66F-C7AE-2BF5-2D5CE3840533}"/>
              </a:ext>
            </a:extLst>
          </p:cNvPr>
          <p:cNvGraphicFramePr>
            <a:graphicFrameLocks noGrp="1"/>
          </p:cNvGraphicFramePr>
          <p:nvPr/>
        </p:nvGraphicFramePr>
        <p:xfrm>
          <a:off x="676861" y="3512648"/>
          <a:ext cx="10838277" cy="3160146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534988">
                  <a:extLst>
                    <a:ext uri="{9D8B030D-6E8A-4147-A177-3AD203B41FA5}">
                      <a16:colId xmlns:a16="http://schemas.microsoft.com/office/drawing/2014/main" val="1341697539"/>
                    </a:ext>
                  </a:extLst>
                </a:gridCol>
                <a:gridCol w="2691137">
                  <a:extLst>
                    <a:ext uri="{9D8B030D-6E8A-4147-A177-3AD203B41FA5}">
                      <a16:colId xmlns:a16="http://schemas.microsoft.com/office/drawing/2014/main" val="494397594"/>
                    </a:ext>
                  </a:extLst>
                </a:gridCol>
                <a:gridCol w="3902583">
                  <a:extLst>
                    <a:ext uri="{9D8B030D-6E8A-4147-A177-3AD203B41FA5}">
                      <a16:colId xmlns:a16="http://schemas.microsoft.com/office/drawing/2014/main" val="1435435812"/>
                    </a:ext>
                  </a:extLst>
                </a:gridCol>
                <a:gridCol w="2709569">
                  <a:extLst>
                    <a:ext uri="{9D8B030D-6E8A-4147-A177-3AD203B41FA5}">
                      <a16:colId xmlns:a16="http://schemas.microsoft.com/office/drawing/2014/main" val="1015855595"/>
                    </a:ext>
                  </a:extLst>
                </a:gridCol>
              </a:tblGrid>
              <a:tr h="350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Operator</a:t>
                      </a:r>
                      <a:endParaRPr lang="en-US" sz="2400" b="1" u="sng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Name</a:t>
                      </a:r>
                      <a:endParaRPr lang="en-US" sz="2400" b="1" u="sng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One-line Explanation</a:t>
                      </a:r>
                      <a:endParaRPr lang="en-US" sz="2400" b="1" u="sng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Example</a:t>
                      </a:r>
                      <a:endParaRPr lang="en-US" sz="2400" b="1" u="sng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13772"/>
                  </a:ext>
                </a:extLst>
              </a:tr>
              <a:tr h="42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?</a:t>
                      </a:r>
                      <a:endParaRPr lang="en-US" sz="2400" b="1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Nullable Type</a:t>
                      </a:r>
                      <a:endParaRPr lang="en-US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Allows a variable to store either a value or null.</a:t>
                      </a:r>
                      <a:endParaRPr lang="en-GB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String? name;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606914"/>
                  </a:ext>
                </a:extLst>
              </a:tr>
              <a:tr h="42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!</a:t>
                      </a:r>
                      <a:endParaRPr lang="en-US" sz="2400" b="1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Null Assertion Operator</a:t>
                      </a:r>
                      <a:endParaRPr lang="en-US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Tells Dart, "Trust me, this value is </a:t>
                      </a:r>
                      <a:r>
                        <a:rPr lang="en-GB" sz="1400" b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not</a:t>
                      </a:r>
                      <a:r>
                        <a:rPr lang="en-GB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null."</a:t>
                      </a:r>
                      <a:endParaRPr lang="en-GB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print(name!.length);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593287"/>
                  </a:ext>
                </a:extLst>
              </a:tr>
              <a:tr h="596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??</a:t>
                      </a:r>
                      <a:endParaRPr lang="en-US" sz="2400" b="1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Null-coalescing Operator</a:t>
                      </a:r>
                      <a:endParaRPr lang="en-US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Returns the left value if it's not null; otherwise returns the right value.</a:t>
                      </a:r>
                      <a:endParaRPr lang="en-GB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print(name ?? "Guest");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777696"/>
                  </a:ext>
                </a:extLst>
              </a:tr>
              <a:tr h="596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??=</a:t>
                      </a:r>
                      <a:endParaRPr lang="en-US" sz="2400" b="1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Null-aware Assignment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Assigns a value </a:t>
                      </a:r>
                      <a:r>
                        <a:rPr lang="en-GB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only if</a:t>
                      </a:r>
                      <a:r>
                        <a:rPr lang="en-GB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the variable is currently null.</a:t>
                      </a:r>
                      <a:endParaRPr lang="en-GB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name ??= "John";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118738"/>
                  </a:ext>
                </a:extLst>
              </a:tr>
              <a:tr h="596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?.</a:t>
                      </a:r>
                      <a:endParaRPr lang="en-US" sz="2400" b="1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Null-aware Access Operator</a:t>
                      </a:r>
                      <a:endParaRPr lang="en-US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Calls a property or method </a:t>
                      </a:r>
                      <a:r>
                        <a:rPr lang="en-GB" sz="1400" b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only if</a:t>
                      </a:r>
                      <a:r>
                        <a:rPr lang="en-GB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the object isn't null.</a:t>
                      </a:r>
                      <a:endParaRPr lang="en-GB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print(</a:t>
                      </a:r>
                      <a:r>
                        <a:rPr lang="en-US" sz="14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name?.length</a:t>
                      </a: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);</a:t>
                      </a:r>
                      <a:endParaRPr lang="en-US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Glacial Indifference" pitchFamily="50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029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673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B869-232D-28DC-110B-6C5BB584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9A4817-8245-CDAC-0483-2C015D9B86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E5FF7-6D15-718F-A2FD-9A724767BBE6}"/>
              </a:ext>
            </a:extLst>
          </p:cNvPr>
          <p:cNvSpPr txBox="1"/>
          <p:nvPr/>
        </p:nvSpPr>
        <p:spPr>
          <a:xfrm>
            <a:off x="1716178" y="175086"/>
            <a:ext cx="119083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58CD5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DART</a:t>
            </a:r>
          </a:p>
          <a:p>
            <a:r>
              <a:rPr lang="en-US" sz="44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NAMED PARAMETER </a:t>
            </a:r>
            <a:r>
              <a:rPr lang="en-US" sz="4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</a:t>
            </a:r>
            <a:r>
              <a:rPr lang="en-US" sz="36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most  important</a:t>
            </a:r>
            <a:r>
              <a:rPr lang="en-US" sz="4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)</a:t>
            </a:r>
            <a:endParaRPr lang="en-US" sz="1100" dirty="0">
              <a:solidFill>
                <a:srgbClr val="FF000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21088-E177-3B5B-F686-C96448EA8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1" y="829038"/>
            <a:ext cx="1000419" cy="1000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32C749-C6A6-B115-F2D0-6000172237D8}"/>
              </a:ext>
            </a:extLst>
          </p:cNvPr>
          <p:cNvSpPr txBox="1"/>
          <p:nvPr/>
        </p:nvSpPr>
        <p:spPr>
          <a:xfrm>
            <a:off x="1716178" y="2274580"/>
            <a:ext cx="97312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Glacial Indifference" pitchFamily="50" charset="0"/>
              </a:rPr>
              <a:t>Named parameters are </a:t>
            </a:r>
            <a:r>
              <a:rPr lang="en-GB" sz="3200" b="1" dirty="0">
                <a:solidFill>
                  <a:srgbClr val="05DFC4"/>
                </a:solidFill>
                <a:latin typeface="Glacial Indifference" pitchFamily="50" charset="0"/>
              </a:rPr>
              <a:t>parameters that are identified by their names</a:t>
            </a:r>
            <a:r>
              <a:rPr lang="en-GB" sz="3200" dirty="0">
                <a:solidFill>
                  <a:schemeClr val="bg1"/>
                </a:solidFill>
                <a:latin typeface="Glacial Indifference" pitchFamily="50" charset="0"/>
              </a:rPr>
              <a:t> instead of their positions.</a:t>
            </a:r>
          </a:p>
          <a:p>
            <a:endParaRPr lang="en-GB" sz="3200" b="1" dirty="0">
              <a:solidFill>
                <a:schemeClr val="bg1"/>
              </a:solidFill>
              <a:latin typeface="Glacial Indifference" pitchFamily="50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10B77A-EFE8-36E5-2CE8-C94998C69EC2}"/>
              </a:ext>
            </a:extLst>
          </p:cNvPr>
          <p:cNvGraphicFramePr>
            <a:graphicFrameLocks noGrp="1"/>
          </p:cNvGraphicFramePr>
          <p:nvPr/>
        </p:nvGraphicFramePr>
        <p:xfrm>
          <a:off x="330925" y="3844240"/>
          <a:ext cx="11530150" cy="25597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765075">
                  <a:extLst>
                    <a:ext uri="{9D8B030D-6E8A-4147-A177-3AD203B41FA5}">
                      <a16:colId xmlns:a16="http://schemas.microsoft.com/office/drawing/2014/main" val="1911372248"/>
                    </a:ext>
                  </a:extLst>
                </a:gridCol>
                <a:gridCol w="5765075">
                  <a:extLst>
                    <a:ext uri="{9D8B030D-6E8A-4147-A177-3AD203B41FA5}">
                      <a16:colId xmlns:a16="http://schemas.microsoft.com/office/drawing/2014/main" val="3698085902"/>
                    </a:ext>
                  </a:extLst>
                </a:gridCol>
              </a:tblGrid>
              <a:tr h="6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tx1"/>
                          </a:solidFill>
                        </a:rPr>
                        <a:t>Positional Parameters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tx1"/>
                          </a:solidFill>
                        </a:rPr>
                        <a:t>Named Parameters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655974"/>
                  </a:ext>
                </a:extLst>
              </a:tr>
              <a:tr h="639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Depend on the order.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Depend on the parameter name.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714097"/>
                  </a:ext>
                </a:extLst>
              </a:tr>
              <a:tr h="639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Values must be in the correct position.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Values can be written in any order.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651196"/>
                  </a:ext>
                </a:extLst>
              </a:tr>
              <a:tr h="639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Example: greet("John", 20)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Example: greet(name: "John", age: 20)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24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123EBD-8ED7-1245-3FC2-45337FEC2204}"/>
              </a:ext>
            </a:extLst>
          </p:cNvPr>
          <p:cNvSpPr txBox="1"/>
          <p:nvPr/>
        </p:nvSpPr>
        <p:spPr>
          <a:xfrm>
            <a:off x="832689" y="6457161"/>
            <a:ext cx="1080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Watch on YouTube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:  https://youtube.com/Dart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yyy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21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Widescreen</PresentationFormat>
  <Paragraphs>255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Arial Unicode MS</vt:lpstr>
      <vt:lpstr>Consolas</vt:lpstr>
      <vt:lpstr>Courier New</vt:lpstr>
      <vt:lpstr>Futura Md BT</vt:lpstr>
      <vt:lpstr>Glacial Indifference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@sosgrid - on X</dc:creator>
  <cp:lastModifiedBy>@sosgrid - on X</cp:lastModifiedBy>
  <cp:revision>1</cp:revision>
  <dcterms:created xsi:type="dcterms:W3CDTF">2026-07-25T10:08:54Z</dcterms:created>
  <dcterms:modified xsi:type="dcterms:W3CDTF">2026-07-25T10:09:11Z</dcterms:modified>
</cp:coreProperties>
</file>